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751" r:id="rId4"/>
  </p:sldMasterIdLst>
  <p:notesMasterIdLst>
    <p:notesMasterId r:id="rId16"/>
  </p:notesMasterIdLst>
  <p:handoutMasterIdLst>
    <p:handoutMasterId r:id="rId17"/>
  </p:handoutMasterIdLst>
  <p:sldIdLst>
    <p:sldId id="273" r:id="rId5"/>
    <p:sldId id="275" r:id="rId6"/>
    <p:sldId id="277" r:id="rId7"/>
    <p:sldId id="281" r:id="rId8"/>
    <p:sldId id="280" r:id="rId9"/>
    <p:sldId id="286" r:id="rId10"/>
    <p:sldId id="284" r:id="rId11"/>
    <p:sldId id="285" r:id="rId12"/>
    <p:sldId id="279" r:id="rId13"/>
    <p:sldId id="287" r:id="rId14"/>
    <p:sldId id="28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BEB2"/>
    <a:srgbClr val="753F2D"/>
    <a:srgbClr val="5E3324"/>
    <a:srgbClr val="8A4C34"/>
    <a:srgbClr val="815550"/>
    <a:srgbClr val="A3573E"/>
    <a:srgbClr val="E7E6E6"/>
    <a:srgbClr val="C28D6D"/>
    <a:srgbClr val="D2986F"/>
    <a:srgbClr val="333B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A524AB-E63A-4B6E-801A-C784FAA2505B}" v="137" dt="2026-05-25T11:00:15.5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40"/>
  </p:normalViewPr>
  <p:slideViewPr>
    <p:cSldViewPr snapToGrid="0" showGuides="1">
      <p:cViewPr>
        <p:scale>
          <a:sx n="90" d="100"/>
          <a:sy n="90" d="100"/>
        </p:scale>
        <p:origin x="232" y="552"/>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433F7E-3633-4FA3-974D-CA21FB24834F}" type="datetimeFigureOut">
              <a:rPr lang="en-US" smtClean="0"/>
              <a:t>5/25/2026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82836-E43C-41FF-A11B-3D8AB6E68FC7}"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5/25/2026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3</a:t>
            </a:fld>
            <a:endParaRPr lang="en-US" noProof="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6</a:t>
            </a:fld>
            <a:endParaRPr lang="en-US" noProof="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dirty="0"/>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8265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01453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dirty="0"/>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266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0120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7114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5027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50050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8801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38394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78256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99859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220327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93998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24175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83583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92002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88269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noProof="0"/>
              <a:t>Presentation title</a:t>
            </a:r>
          </a:p>
        </p:txBody>
      </p:sp>
      <p:sp>
        <p:nvSpPr>
          <p:cNvPr id="5" name="Slide Number Placeholder 4"/>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Rectangle 5"/>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p:cNvSpPr>
            <a:spLocks noGrp="1"/>
          </p:cNvSpPr>
          <p:nvPr>
            <p:ph type="body" sz="quarter" idx="15"/>
          </p:nvPr>
        </p:nvSpPr>
        <p:spPr>
          <a:xfrm>
            <a:off x="365760" y="3401568"/>
            <a:ext cx="4754880" cy="1682750"/>
          </a:xfrm>
        </p:spPr>
        <p:txBody>
          <a:bodyPr/>
          <a:lstStyle>
            <a:lvl1pPr marL="283210" indent="-283210">
              <a:lnSpc>
                <a:spcPct val="150000"/>
              </a:lnSpc>
              <a:spcBef>
                <a:spcPts val="0"/>
              </a:spcBef>
              <a:defRPr sz="1600">
                <a:solidFill>
                  <a:schemeClr val="tx2"/>
                </a:solidFill>
              </a:defRPr>
            </a:lvl1pPr>
            <a:lvl2pPr indent="-283210">
              <a:lnSpc>
                <a:spcPct val="150000"/>
              </a:lnSpc>
              <a:spcBef>
                <a:spcPts val="0"/>
              </a:spcBef>
              <a:defRPr sz="1600">
                <a:solidFill>
                  <a:schemeClr val="tx2"/>
                </a:solidFill>
              </a:defRPr>
            </a:lvl2pPr>
            <a:lvl3pPr indent="-283210">
              <a:lnSpc>
                <a:spcPct val="150000"/>
              </a:lnSpc>
              <a:spcBef>
                <a:spcPts val="0"/>
              </a:spcBef>
              <a:defRPr sz="1600">
                <a:solidFill>
                  <a:schemeClr val="tx2"/>
                </a:solidFill>
              </a:defRPr>
            </a:lvl3pPr>
            <a:lvl4pPr indent="-283210">
              <a:lnSpc>
                <a:spcPct val="150000"/>
              </a:lnSpc>
              <a:spcBef>
                <a:spcPts val="0"/>
              </a:spcBef>
              <a:defRPr sz="1600">
                <a:solidFill>
                  <a:schemeClr val="tx2"/>
                </a:solidFill>
              </a:defRPr>
            </a:lvl4pPr>
            <a:lvl5pPr indent="-283210">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p:cNvSpPr>
            <a:spLocks noGrp="1"/>
          </p:cNvSpPr>
          <p:nvPr>
            <p:ph type="body" sz="quarter" idx="16"/>
          </p:nvPr>
        </p:nvSpPr>
        <p:spPr>
          <a:xfrm>
            <a:off x="5943600" y="3401568"/>
            <a:ext cx="4754880" cy="1682750"/>
          </a:xfrm>
        </p:spPr>
        <p:txBody>
          <a:bodyPr/>
          <a:lstStyle>
            <a:lvl1pPr marL="283210" indent="-283210">
              <a:lnSpc>
                <a:spcPct val="150000"/>
              </a:lnSpc>
              <a:spcBef>
                <a:spcPts val="0"/>
              </a:spcBef>
              <a:defRPr sz="1600">
                <a:solidFill>
                  <a:schemeClr val="tx2"/>
                </a:solidFill>
              </a:defRPr>
            </a:lvl1pPr>
            <a:lvl2pPr indent="-283210">
              <a:lnSpc>
                <a:spcPct val="150000"/>
              </a:lnSpc>
              <a:spcBef>
                <a:spcPts val="0"/>
              </a:spcBef>
              <a:defRPr sz="1600">
                <a:solidFill>
                  <a:schemeClr val="tx2"/>
                </a:solidFill>
              </a:defRPr>
            </a:lvl2pPr>
            <a:lvl3pPr indent="-283210">
              <a:lnSpc>
                <a:spcPct val="150000"/>
              </a:lnSpc>
              <a:spcBef>
                <a:spcPts val="0"/>
              </a:spcBef>
              <a:defRPr sz="1600">
                <a:solidFill>
                  <a:schemeClr val="tx2"/>
                </a:solidFill>
              </a:defRPr>
            </a:lvl3pPr>
            <a:lvl4pPr indent="-283210">
              <a:lnSpc>
                <a:spcPct val="150000"/>
              </a:lnSpc>
              <a:spcBef>
                <a:spcPts val="0"/>
              </a:spcBef>
              <a:defRPr sz="1600">
                <a:solidFill>
                  <a:schemeClr val="tx2"/>
                </a:solidFill>
              </a:defRPr>
            </a:lvl4pPr>
            <a:lvl5pPr indent="-283210">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p:cNvGrpSpPr/>
          <p:nvPr userDrawn="1"/>
        </p:nvGrpSpPr>
        <p:grpSpPr>
          <a:xfrm rot="10800000">
            <a:off x="726958" y="2521655"/>
            <a:ext cx="11480808" cy="1"/>
            <a:chOff x="2077471" y="5539116"/>
            <a:chExt cx="11480808" cy="1"/>
          </a:xfrm>
        </p:grpSpPr>
        <p:cxnSp>
          <p:nvCxnSpPr>
            <p:cNvPr id="16" name="Straight Connector 15"/>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003351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t>‹#›</a:t>
            </a:fld>
            <a:endParaRPr lang="en-US" noProof="0"/>
          </a:p>
        </p:txBody>
      </p:sp>
      <p:sp>
        <p:nvSpPr>
          <p:cNvPr id="9" name="Title 8"/>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p:cNvSpPr>
            <a:spLocks noGrp="1"/>
          </p:cNvSpPr>
          <p:nvPr>
            <p:ph type="body" sz="quarter" idx="15"/>
          </p:nvPr>
        </p:nvSpPr>
        <p:spPr>
          <a:xfrm>
            <a:off x="365760" y="3931920"/>
            <a:ext cx="4754880" cy="1682750"/>
          </a:xfrm>
        </p:spPr>
        <p:txBody>
          <a:bodyPr/>
          <a:lstStyle>
            <a:lvl1pPr marL="283210" indent="-283210">
              <a:lnSpc>
                <a:spcPct val="150000"/>
              </a:lnSpc>
              <a:spcBef>
                <a:spcPts val="0"/>
              </a:spcBef>
              <a:defRPr sz="1600">
                <a:solidFill>
                  <a:schemeClr val="tx2"/>
                </a:solidFill>
              </a:defRPr>
            </a:lvl1pPr>
            <a:lvl2pPr indent="-283210">
              <a:lnSpc>
                <a:spcPct val="150000"/>
              </a:lnSpc>
              <a:spcBef>
                <a:spcPts val="0"/>
              </a:spcBef>
              <a:defRPr sz="1600">
                <a:solidFill>
                  <a:schemeClr val="tx2"/>
                </a:solidFill>
              </a:defRPr>
            </a:lvl2pPr>
            <a:lvl3pPr indent="-283210">
              <a:lnSpc>
                <a:spcPct val="150000"/>
              </a:lnSpc>
              <a:spcBef>
                <a:spcPts val="0"/>
              </a:spcBef>
              <a:defRPr sz="1600">
                <a:solidFill>
                  <a:schemeClr val="tx2"/>
                </a:solidFill>
              </a:defRPr>
            </a:lvl3pPr>
            <a:lvl4pPr indent="-283210">
              <a:lnSpc>
                <a:spcPct val="150000"/>
              </a:lnSpc>
              <a:spcBef>
                <a:spcPts val="0"/>
              </a:spcBef>
              <a:defRPr sz="1600">
                <a:solidFill>
                  <a:schemeClr val="tx2"/>
                </a:solidFill>
              </a:defRPr>
            </a:lvl4pPr>
            <a:lvl5pPr indent="-283210">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p:cNvSpPr>
            <a:spLocks noGrp="1"/>
          </p:cNvSpPr>
          <p:nvPr>
            <p:ph type="body" sz="quarter" idx="16"/>
          </p:nvPr>
        </p:nvSpPr>
        <p:spPr>
          <a:xfrm>
            <a:off x="5943600" y="3931920"/>
            <a:ext cx="4754880" cy="1682750"/>
          </a:xfrm>
        </p:spPr>
        <p:txBody>
          <a:bodyPr/>
          <a:lstStyle>
            <a:lvl1pPr marL="283210" indent="-283210">
              <a:lnSpc>
                <a:spcPct val="150000"/>
              </a:lnSpc>
              <a:spcBef>
                <a:spcPts val="0"/>
              </a:spcBef>
              <a:defRPr sz="1600">
                <a:solidFill>
                  <a:schemeClr val="tx2"/>
                </a:solidFill>
              </a:defRPr>
            </a:lvl1pPr>
            <a:lvl2pPr indent="-283210">
              <a:lnSpc>
                <a:spcPct val="150000"/>
              </a:lnSpc>
              <a:spcBef>
                <a:spcPts val="0"/>
              </a:spcBef>
              <a:defRPr sz="1600">
                <a:solidFill>
                  <a:schemeClr val="tx2"/>
                </a:solidFill>
              </a:defRPr>
            </a:lvl2pPr>
            <a:lvl3pPr indent="-283210">
              <a:lnSpc>
                <a:spcPct val="150000"/>
              </a:lnSpc>
              <a:spcBef>
                <a:spcPts val="0"/>
              </a:spcBef>
              <a:defRPr sz="1600">
                <a:solidFill>
                  <a:schemeClr val="tx2"/>
                </a:solidFill>
              </a:defRPr>
            </a:lvl3pPr>
            <a:lvl4pPr indent="-283210">
              <a:lnSpc>
                <a:spcPct val="150000"/>
              </a:lnSpc>
              <a:spcBef>
                <a:spcPts val="0"/>
              </a:spcBef>
              <a:defRPr sz="1600">
                <a:solidFill>
                  <a:schemeClr val="tx2"/>
                </a:solidFill>
              </a:defRPr>
            </a:lvl4pPr>
            <a:lvl5pPr indent="-283210">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p:cNvGrpSpPr/>
          <p:nvPr userDrawn="1"/>
        </p:nvGrpSpPr>
        <p:grpSpPr>
          <a:xfrm rot="16200000" flipV="1">
            <a:off x="8764091" y="3943349"/>
            <a:ext cx="5829301" cy="0"/>
            <a:chOff x="2287349" y="55407920"/>
            <a:chExt cx="11160369" cy="0"/>
          </a:xfrm>
        </p:grpSpPr>
        <p:cxnSp>
          <p:nvCxnSpPr>
            <p:cNvPr id="20" name="Straight Connector 19"/>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6898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p:cNvSpPr>
            <a:spLocks noGrp="1"/>
          </p:cNvSpPr>
          <p:nvPr>
            <p:ph type="ftr" sz="quarter" idx="11"/>
          </p:nvPr>
        </p:nvSpPr>
        <p:spPr/>
        <p:txBody>
          <a:bodyPr/>
          <a:lstStyle/>
          <a:p>
            <a:r>
              <a:rPr lang="en-US" noProof="0"/>
              <a:t>Presentation title</a:t>
            </a:r>
          </a:p>
        </p:txBody>
      </p:sp>
      <p:sp>
        <p:nvSpPr>
          <p:cNvPr id="5" name="Slide Number Placeholder 4"/>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9" name="Title 8"/>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p:cNvSpPr>
            <a:spLocks noGrp="1"/>
          </p:cNvSpPr>
          <p:nvPr>
            <p:ph type="body" sz="quarter" idx="15"/>
          </p:nvPr>
        </p:nvSpPr>
        <p:spPr>
          <a:xfrm>
            <a:off x="5989320" y="1792224"/>
            <a:ext cx="4754880" cy="1682750"/>
          </a:xfrm>
        </p:spPr>
        <p:txBody>
          <a:bodyPr/>
          <a:lstStyle>
            <a:lvl1pPr marL="283210" indent="-283210">
              <a:lnSpc>
                <a:spcPct val="150000"/>
              </a:lnSpc>
              <a:spcBef>
                <a:spcPts val="0"/>
              </a:spcBef>
              <a:defRPr sz="1600">
                <a:solidFill>
                  <a:schemeClr val="tx2"/>
                </a:solidFill>
              </a:defRPr>
            </a:lvl1pPr>
            <a:lvl2pPr indent="-283210">
              <a:lnSpc>
                <a:spcPct val="150000"/>
              </a:lnSpc>
              <a:spcBef>
                <a:spcPts val="0"/>
              </a:spcBef>
              <a:defRPr sz="1600">
                <a:solidFill>
                  <a:schemeClr val="tx2"/>
                </a:solidFill>
              </a:defRPr>
            </a:lvl2pPr>
            <a:lvl3pPr indent="-283210">
              <a:lnSpc>
                <a:spcPct val="150000"/>
              </a:lnSpc>
              <a:spcBef>
                <a:spcPts val="0"/>
              </a:spcBef>
              <a:defRPr sz="1600">
                <a:solidFill>
                  <a:schemeClr val="tx2"/>
                </a:solidFill>
              </a:defRPr>
            </a:lvl3pPr>
            <a:lvl4pPr indent="-283210">
              <a:lnSpc>
                <a:spcPct val="150000"/>
              </a:lnSpc>
              <a:spcBef>
                <a:spcPts val="0"/>
              </a:spcBef>
              <a:defRPr sz="1600">
                <a:solidFill>
                  <a:schemeClr val="tx2"/>
                </a:solidFill>
              </a:defRPr>
            </a:lvl4pPr>
            <a:lvl5pPr indent="-283210">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p:cNvSpPr>
            <a:spLocks noGrp="1"/>
          </p:cNvSpPr>
          <p:nvPr>
            <p:ph type="body" sz="quarter" idx="16"/>
          </p:nvPr>
        </p:nvSpPr>
        <p:spPr>
          <a:xfrm>
            <a:off x="5989320" y="3941064"/>
            <a:ext cx="4754880" cy="1682750"/>
          </a:xfrm>
        </p:spPr>
        <p:txBody>
          <a:bodyPr/>
          <a:lstStyle>
            <a:lvl1pPr marL="283210" indent="-283210">
              <a:lnSpc>
                <a:spcPct val="150000"/>
              </a:lnSpc>
              <a:spcBef>
                <a:spcPts val="0"/>
              </a:spcBef>
              <a:defRPr sz="1600">
                <a:solidFill>
                  <a:schemeClr val="tx2"/>
                </a:solidFill>
              </a:defRPr>
            </a:lvl1pPr>
            <a:lvl2pPr indent="-283210">
              <a:lnSpc>
                <a:spcPct val="150000"/>
              </a:lnSpc>
              <a:spcBef>
                <a:spcPts val="0"/>
              </a:spcBef>
              <a:defRPr sz="1600">
                <a:solidFill>
                  <a:schemeClr val="tx2"/>
                </a:solidFill>
              </a:defRPr>
            </a:lvl2pPr>
            <a:lvl3pPr indent="-283210">
              <a:lnSpc>
                <a:spcPct val="150000"/>
              </a:lnSpc>
              <a:spcBef>
                <a:spcPts val="0"/>
              </a:spcBef>
              <a:defRPr sz="1600">
                <a:solidFill>
                  <a:schemeClr val="tx2"/>
                </a:solidFill>
              </a:defRPr>
            </a:lvl3pPr>
            <a:lvl4pPr indent="-283210">
              <a:lnSpc>
                <a:spcPct val="150000"/>
              </a:lnSpc>
              <a:spcBef>
                <a:spcPts val="0"/>
              </a:spcBef>
              <a:defRPr sz="1600">
                <a:solidFill>
                  <a:schemeClr val="tx2"/>
                </a:solidFill>
              </a:defRPr>
            </a:lvl4pPr>
            <a:lvl5pPr indent="-283210">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p:cNvGrpSpPr/>
          <p:nvPr userDrawn="1"/>
        </p:nvGrpSpPr>
        <p:grpSpPr>
          <a:xfrm>
            <a:off x="-11882" y="3045007"/>
            <a:ext cx="4279082" cy="364"/>
            <a:chOff x="5475479" y="5537794"/>
            <a:chExt cx="4279082" cy="364"/>
          </a:xfrm>
        </p:grpSpPr>
        <p:cxnSp>
          <p:nvCxnSpPr>
            <p:cNvPr id="24" name="Straight Connector 23"/>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4686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p:cNvSpPr>
            <a:spLocks noGrp="1"/>
          </p:cNvSpPr>
          <p:nvPr>
            <p:ph type="ftr" sz="quarter" idx="11"/>
          </p:nvPr>
        </p:nvSpPr>
        <p:spPr/>
        <p:txBody>
          <a:bodyPr/>
          <a:lstStyle/>
          <a:p>
            <a:r>
              <a:rPr lang="en-US" noProof="0"/>
              <a:t>Presentation title</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t>‹#›</a:t>
            </a:fld>
            <a:endParaRPr lang="en-US" noProof="0"/>
          </a:p>
        </p:txBody>
      </p:sp>
      <p:sp>
        <p:nvSpPr>
          <p:cNvPr id="9" name="Title 8"/>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p:cNvSpPr>
            <a:spLocks noGrp="1"/>
          </p:cNvSpPr>
          <p:nvPr>
            <p:ph type="body" sz="quarter" idx="15"/>
          </p:nvPr>
        </p:nvSpPr>
        <p:spPr>
          <a:xfrm>
            <a:off x="5971032" y="1792224"/>
            <a:ext cx="4754880" cy="1682750"/>
          </a:xfrm>
        </p:spPr>
        <p:txBody>
          <a:bodyPr/>
          <a:lstStyle>
            <a:lvl1pPr marL="283210" indent="-283210">
              <a:lnSpc>
                <a:spcPct val="150000"/>
              </a:lnSpc>
              <a:spcBef>
                <a:spcPts val="0"/>
              </a:spcBef>
              <a:defRPr sz="1600">
                <a:solidFill>
                  <a:schemeClr val="accent5"/>
                </a:solidFill>
              </a:defRPr>
            </a:lvl1pPr>
            <a:lvl2pPr indent="-283210">
              <a:lnSpc>
                <a:spcPct val="150000"/>
              </a:lnSpc>
              <a:spcBef>
                <a:spcPts val="0"/>
              </a:spcBef>
              <a:defRPr sz="1600">
                <a:solidFill>
                  <a:schemeClr val="accent5"/>
                </a:solidFill>
              </a:defRPr>
            </a:lvl2pPr>
            <a:lvl3pPr indent="-283210">
              <a:lnSpc>
                <a:spcPct val="150000"/>
              </a:lnSpc>
              <a:spcBef>
                <a:spcPts val="0"/>
              </a:spcBef>
              <a:defRPr sz="1600">
                <a:solidFill>
                  <a:schemeClr val="accent5"/>
                </a:solidFill>
              </a:defRPr>
            </a:lvl3pPr>
            <a:lvl4pPr indent="-283210">
              <a:lnSpc>
                <a:spcPct val="150000"/>
              </a:lnSpc>
              <a:spcBef>
                <a:spcPts val="0"/>
              </a:spcBef>
              <a:defRPr sz="1600">
                <a:solidFill>
                  <a:schemeClr val="accent5"/>
                </a:solidFill>
              </a:defRPr>
            </a:lvl4pPr>
            <a:lvl5pPr indent="-283210">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p:cNvSpPr>
            <a:spLocks noGrp="1"/>
          </p:cNvSpPr>
          <p:nvPr>
            <p:ph type="body" sz="quarter" idx="16"/>
          </p:nvPr>
        </p:nvSpPr>
        <p:spPr>
          <a:xfrm>
            <a:off x="5971032" y="3941064"/>
            <a:ext cx="4754880" cy="1682750"/>
          </a:xfrm>
        </p:spPr>
        <p:txBody>
          <a:bodyPr/>
          <a:lstStyle>
            <a:lvl1pPr marL="283210" indent="-283210">
              <a:lnSpc>
                <a:spcPct val="150000"/>
              </a:lnSpc>
              <a:spcBef>
                <a:spcPts val="0"/>
              </a:spcBef>
              <a:defRPr sz="1600">
                <a:solidFill>
                  <a:schemeClr val="accent5"/>
                </a:solidFill>
              </a:defRPr>
            </a:lvl1pPr>
            <a:lvl2pPr indent="-283210">
              <a:lnSpc>
                <a:spcPct val="150000"/>
              </a:lnSpc>
              <a:spcBef>
                <a:spcPts val="0"/>
              </a:spcBef>
              <a:defRPr sz="1600">
                <a:solidFill>
                  <a:schemeClr val="accent5"/>
                </a:solidFill>
              </a:defRPr>
            </a:lvl2pPr>
            <a:lvl3pPr indent="-283210">
              <a:lnSpc>
                <a:spcPct val="150000"/>
              </a:lnSpc>
              <a:spcBef>
                <a:spcPts val="0"/>
              </a:spcBef>
              <a:defRPr sz="1600">
                <a:solidFill>
                  <a:schemeClr val="accent5"/>
                </a:solidFill>
              </a:defRPr>
            </a:lvl3pPr>
            <a:lvl4pPr indent="-283210">
              <a:lnSpc>
                <a:spcPct val="150000"/>
              </a:lnSpc>
              <a:spcBef>
                <a:spcPts val="0"/>
              </a:spcBef>
              <a:defRPr sz="1600">
                <a:solidFill>
                  <a:schemeClr val="accent5"/>
                </a:solidFill>
              </a:defRPr>
            </a:lvl4pPr>
            <a:lvl5pPr indent="-283210">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p:cNvGrpSpPr/>
          <p:nvPr userDrawn="1"/>
        </p:nvGrpSpPr>
        <p:grpSpPr>
          <a:xfrm>
            <a:off x="-28308" y="2514621"/>
            <a:ext cx="5666632" cy="0"/>
            <a:chOff x="5464255" y="5541151"/>
            <a:chExt cx="5666632" cy="0"/>
          </a:xfrm>
        </p:grpSpPr>
        <p:cxnSp>
          <p:nvCxnSpPr>
            <p:cNvPr id="24" name="Straight Connector 23"/>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613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5/25/2026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60257621"/>
      </p:ext>
    </p:extLst>
  </p:cSld>
  <p:clrMap bg1="dk1" tx1="lt1" bg2="dk2" tx2="lt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p:cNvSpPr>
            <a:spLocks noGrp="1"/>
          </p:cNvSpPr>
          <p:nvPr>
            <p:ph type="ctrTitle"/>
          </p:nvPr>
        </p:nvSpPr>
        <p:spPr>
          <a:xfrm>
            <a:off x="1113825" y="1201348"/>
            <a:ext cx="8813945" cy="2387600"/>
          </a:xfrm>
        </p:spPr>
        <p:txBody>
          <a:bodyPr>
            <a:normAutofit/>
          </a:bodyPr>
          <a:lstStyle/>
          <a:p>
            <a:r>
              <a:rPr lang="en-US">
                <a:solidFill>
                  <a:schemeClr val="bg1"/>
                </a:solidFill>
              </a:rPr>
              <a:t>Stroke Prediction Using SVM, Decision Tree, and KNN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126" y="408818"/>
            <a:ext cx="8534400" cy="1507067"/>
          </a:xfrm>
        </p:spPr>
        <p:txBody>
          <a:bodyPr/>
          <a:lstStyle/>
          <a:p>
            <a:r>
              <a:rPr lang="en-US" dirty="0"/>
              <a:t>Business </a:t>
            </a:r>
            <a:r>
              <a:rPr lang="en-US" dirty="0" err="1"/>
              <a:t>Usecase</a:t>
            </a:r>
          </a:p>
        </p:txBody>
      </p:sp>
      <p:sp>
        <p:nvSpPr>
          <p:cNvPr id="5" name="Content Placeholder 4"/>
          <p:cNvSpPr>
            <a:spLocks noGrp="1"/>
          </p:cNvSpPr>
          <p:nvPr>
            <p:ph idx="1"/>
          </p:nvPr>
        </p:nvSpPr>
        <p:spPr>
          <a:xfrm>
            <a:off x="335870" y="2289628"/>
            <a:ext cx="8534400" cy="3615267"/>
          </a:xfrm>
        </p:spPr>
        <p:txBody>
          <a:bodyPr vert="horz" lIns="91440" tIns="45720" rIns="91440" bIns="45720" rtlCol="0" anchor="ctr">
            <a:noAutofit/>
          </a:bodyPr>
          <a:lstStyle/>
          <a:p>
            <a:r>
              <a:rPr lang="en-US" sz="2400" b="0" dirty="0">
                <a:ea typeface="+mn-lt"/>
                <a:cs typeface="+mn-lt"/>
              </a:rPr>
              <a:t>Stroke is a </a:t>
            </a:r>
            <a:r>
              <a:rPr lang="en-US" sz="2400" dirty="0">
                <a:ea typeface="+mn-lt"/>
                <a:cs typeface="+mn-lt"/>
              </a:rPr>
              <a:t>critical </a:t>
            </a:r>
            <a:r>
              <a:rPr lang="en-US" sz="2400" b="0" dirty="0">
                <a:ea typeface="+mn-lt"/>
                <a:cs typeface="+mn-lt"/>
              </a:rPr>
              <a:t>medical condition </a:t>
            </a:r>
            <a:r>
              <a:rPr lang="en-US" sz="2400" dirty="0">
                <a:ea typeface="+mn-lt"/>
                <a:cs typeface="+mn-lt"/>
              </a:rPr>
              <a:t>where early </a:t>
            </a:r>
            <a:r>
              <a:rPr lang="en-US" sz="2400" b="0" dirty="0">
                <a:ea typeface="+mn-lt"/>
                <a:cs typeface="+mn-lt"/>
              </a:rPr>
              <a:t>detection </a:t>
            </a:r>
            <a:r>
              <a:rPr lang="en-US" sz="2400" dirty="0">
                <a:ea typeface="+mn-lt"/>
                <a:cs typeface="+mn-lt"/>
              </a:rPr>
              <a:t>plays an important role in improving </a:t>
            </a:r>
            <a:r>
              <a:rPr lang="en-US" sz="2400" b="0" dirty="0">
                <a:ea typeface="+mn-lt"/>
                <a:cs typeface="+mn-lt"/>
              </a:rPr>
              <a:t>patient </a:t>
            </a:r>
            <a:r>
              <a:rPr lang="en-US" sz="2400" dirty="0">
                <a:ea typeface="+mn-lt"/>
                <a:cs typeface="+mn-lt"/>
              </a:rPr>
              <a:t>recovery and survival rates</a:t>
            </a:r>
            <a:r>
              <a:rPr lang="en-US" sz="2400" b="0" dirty="0">
                <a:ea typeface="+mn-lt"/>
                <a:cs typeface="+mn-lt"/>
              </a:rPr>
              <a:t>. </a:t>
            </a:r>
            <a:r>
              <a:rPr lang="en-US" sz="2400" dirty="0">
                <a:ea typeface="+mn-lt"/>
                <a:cs typeface="+mn-lt"/>
              </a:rPr>
              <a:t>In this project, </a:t>
            </a:r>
            <a:r>
              <a:rPr lang="en-US" sz="2400" b="0" dirty="0">
                <a:ea typeface="+mn-lt"/>
                <a:cs typeface="+mn-lt"/>
              </a:rPr>
              <a:t>machine learning </a:t>
            </a:r>
            <a:r>
              <a:rPr lang="en-US" sz="2400" dirty="0">
                <a:ea typeface="+mn-lt"/>
                <a:cs typeface="+mn-lt"/>
              </a:rPr>
              <a:t>techniques are used </a:t>
            </a:r>
            <a:r>
              <a:rPr lang="en-US" sz="2400" b="0" dirty="0">
                <a:ea typeface="+mn-lt"/>
                <a:cs typeface="+mn-lt"/>
              </a:rPr>
              <a:t>to predict </a:t>
            </a:r>
            <a:r>
              <a:rPr lang="en-US" sz="2400" dirty="0">
                <a:ea typeface="+mn-lt"/>
                <a:cs typeface="+mn-lt"/>
              </a:rPr>
              <a:t>the likelihood of </a:t>
            </a:r>
            <a:r>
              <a:rPr lang="en-US" sz="2400" b="0" dirty="0">
                <a:ea typeface="+mn-lt"/>
                <a:cs typeface="+mn-lt"/>
              </a:rPr>
              <a:t>a patient </a:t>
            </a:r>
            <a:r>
              <a:rPr lang="en-US" sz="2400" dirty="0">
                <a:ea typeface="+mn-lt"/>
                <a:cs typeface="+mn-lt"/>
              </a:rPr>
              <a:t>experiencing a </a:t>
            </a:r>
            <a:r>
              <a:rPr lang="en-US" sz="2400" b="0" dirty="0">
                <a:ea typeface="+mn-lt"/>
                <a:cs typeface="+mn-lt"/>
              </a:rPr>
              <a:t>stroke based on </a:t>
            </a:r>
            <a:r>
              <a:rPr lang="en-US" sz="2400" dirty="0">
                <a:ea typeface="+mn-lt"/>
                <a:cs typeface="+mn-lt"/>
              </a:rPr>
              <a:t>different health-related factors</a:t>
            </a:r>
            <a:r>
              <a:rPr lang="en-US" sz="2400" b="0" dirty="0">
                <a:ea typeface="+mn-lt"/>
                <a:cs typeface="+mn-lt"/>
              </a:rPr>
              <a:t>.</a:t>
            </a:r>
          </a:p>
          <a:p>
            <a:r>
              <a:rPr lang="en-US" sz="2400" dirty="0">
                <a:ea typeface="+mn-lt"/>
                <a:cs typeface="+mn-lt"/>
              </a:rPr>
              <a:t>The </a:t>
            </a:r>
            <a:r>
              <a:rPr lang="en-US" sz="2400" b="0" dirty="0">
                <a:ea typeface="+mn-lt"/>
                <a:cs typeface="+mn-lt"/>
              </a:rPr>
              <a:t>project </a:t>
            </a:r>
            <a:r>
              <a:rPr lang="en-US" sz="2400" dirty="0">
                <a:ea typeface="+mn-lt"/>
                <a:cs typeface="+mn-lt"/>
              </a:rPr>
              <a:t>mainly </a:t>
            </a:r>
            <a:r>
              <a:rPr lang="en-US" sz="2400" b="0" dirty="0">
                <a:ea typeface="+mn-lt"/>
                <a:cs typeface="+mn-lt"/>
              </a:rPr>
              <a:t>focuses on implementing </a:t>
            </a:r>
            <a:r>
              <a:rPr lang="en-US" sz="2400" dirty="0">
                <a:ea typeface="+mn-lt"/>
                <a:cs typeface="+mn-lt"/>
              </a:rPr>
              <a:t>and comparing </a:t>
            </a:r>
            <a:r>
              <a:rPr lang="en-US" sz="2400" b="0" dirty="0">
                <a:ea typeface="+mn-lt"/>
                <a:cs typeface="+mn-lt"/>
              </a:rPr>
              <a:t>three </a:t>
            </a:r>
            <a:r>
              <a:rPr lang="en-US" sz="2400" dirty="0">
                <a:ea typeface="+mn-lt"/>
                <a:cs typeface="+mn-lt"/>
              </a:rPr>
              <a:t>classification algorithms </a:t>
            </a:r>
            <a:r>
              <a:rPr lang="en-US" sz="2400" b="0" dirty="0">
                <a:ea typeface="+mn-lt"/>
                <a:cs typeface="+mn-lt"/>
              </a:rPr>
              <a:t>—</a:t>
            </a:r>
            <a:r>
              <a:rPr lang="en-US" sz="2400" dirty="0">
                <a:ea typeface="+mn-lt"/>
                <a:cs typeface="+mn-lt"/>
              </a:rPr>
              <a:t> Support Vector Machine (</a:t>
            </a:r>
            <a:r>
              <a:rPr lang="en-US" sz="2400" b="0" dirty="0">
                <a:ea typeface="+mn-lt"/>
                <a:cs typeface="+mn-lt"/>
              </a:rPr>
              <a:t>SVM</a:t>
            </a:r>
            <a:r>
              <a:rPr lang="en-US" sz="2400" dirty="0">
                <a:ea typeface="+mn-lt"/>
                <a:cs typeface="+mn-lt"/>
              </a:rPr>
              <a:t>), </a:t>
            </a:r>
            <a:r>
              <a:rPr lang="en-US" sz="2400" b="0" dirty="0">
                <a:ea typeface="+mn-lt"/>
                <a:cs typeface="+mn-lt"/>
              </a:rPr>
              <a:t>Decision Tree, and </a:t>
            </a:r>
            <a:r>
              <a:rPr lang="en-US" sz="2400" dirty="0">
                <a:ea typeface="+mn-lt"/>
                <a:cs typeface="+mn-lt"/>
              </a:rPr>
              <a:t>K-Nearest Neighbors (</a:t>
            </a:r>
            <a:r>
              <a:rPr lang="en-US" sz="2400" b="0" dirty="0">
                <a:ea typeface="+mn-lt"/>
                <a:cs typeface="+mn-lt"/>
              </a:rPr>
              <a:t>KNN</a:t>
            </a:r>
            <a:r>
              <a:rPr lang="en-US" sz="2400" dirty="0">
                <a:ea typeface="+mn-lt"/>
                <a:cs typeface="+mn-lt"/>
              </a:rPr>
              <a:t>) </a:t>
            </a:r>
            <a:r>
              <a:rPr lang="en-US" sz="2400" b="0" dirty="0">
                <a:ea typeface="+mn-lt"/>
                <a:cs typeface="+mn-lt"/>
              </a:rPr>
              <a:t>—</a:t>
            </a:r>
            <a:r>
              <a:rPr lang="en-US" sz="2400" dirty="0">
                <a:ea typeface="+mn-lt"/>
                <a:cs typeface="+mn-lt"/>
              </a:rPr>
              <a:t> </a:t>
            </a:r>
            <a:r>
              <a:rPr lang="en-US" sz="2400" b="0" dirty="0">
                <a:ea typeface="+mn-lt"/>
                <a:cs typeface="+mn-lt"/>
              </a:rPr>
              <a:t>to predict stroke occurrence. </a:t>
            </a:r>
            <a:r>
              <a:rPr lang="en-US" sz="2400" dirty="0">
                <a:ea typeface="+mn-lt"/>
                <a:cs typeface="+mn-lt"/>
              </a:rPr>
              <a:t>Their </a:t>
            </a:r>
            <a:r>
              <a:rPr lang="en-US" sz="2400" b="0" dirty="0">
                <a:ea typeface="+mn-lt"/>
                <a:cs typeface="+mn-lt"/>
              </a:rPr>
              <a:t>performance </a:t>
            </a:r>
            <a:r>
              <a:rPr lang="en-US" sz="2400" dirty="0">
                <a:ea typeface="+mn-lt"/>
                <a:cs typeface="+mn-lt"/>
              </a:rPr>
              <a:t>is evaluated using </a:t>
            </a:r>
            <a:r>
              <a:rPr lang="en-US" sz="2400" b="0" dirty="0">
                <a:ea typeface="+mn-lt"/>
                <a:cs typeface="+mn-lt"/>
              </a:rPr>
              <a:t>accuracy and other </a:t>
            </a:r>
            <a:r>
              <a:rPr lang="en-US" sz="2400" dirty="0">
                <a:ea typeface="+mn-lt"/>
                <a:cs typeface="+mn-lt"/>
              </a:rPr>
              <a:t>important evaluation</a:t>
            </a:r>
            <a:r>
              <a:rPr lang="en-US" sz="2400" b="0" dirty="0">
                <a:ea typeface="+mn-lt"/>
                <a:cs typeface="+mn-lt"/>
              </a:rPr>
              <a:t> metrics.</a:t>
            </a:r>
          </a:p>
          <a:p>
            <a:endParaRPr lang="en-US" sz="2400" dirty="0"/>
          </a:p>
        </p:txBody>
      </p:sp>
      <p:sp>
        <p:nvSpPr>
          <p:cNvPr id="4" name="Slide Number Placeholder 3"/>
          <p:cNvSpPr>
            <a:spLocks noGrp="1"/>
          </p:cNvSpPr>
          <p:nvPr>
            <p:ph type="sldNum" sz="quarter" idx="12"/>
          </p:nvPr>
        </p:nvSpPr>
        <p:spPr/>
        <p:txBody>
          <a:bodyPr/>
          <a:lstStyle/>
          <a:p>
            <a:fld id="{5BFCF61C-3B18-4C03-8326-CC3B32D710C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5BFCF61C-3B18-4C03-8326-CC3B32D710C9}" type="slidenum">
              <a:rPr lang="en-US" smtClean="0"/>
              <a:t>3</a:t>
            </a:fld>
            <a:endParaRPr lang="en-US"/>
          </a:p>
        </p:txBody>
      </p:sp>
      <p:sp>
        <p:nvSpPr>
          <p:cNvPr id="2" name="Title 1"/>
          <p:cNvSpPr>
            <a:spLocks noGrp="1"/>
          </p:cNvSpPr>
          <p:nvPr>
            <p:ph type="title"/>
          </p:nvPr>
        </p:nvSpPr>
        <p:spPr/>
        <p:txBody>
          <a:bodyPr/>
          <a:lstStyle/>
          <a:p>
            <a:r>
              <a:rPr lang="en-US"/>
              <a:t>Dataset overview </a:t>
            </a:r>
          </a:p>
        </p:txBody>
      </p:sp>
      <p:sp>
        <p:nvSpPr>
          <p:cNvPr id="5" name="Text Placeholder 4"/>
          <p:cNvSpPr>
            <a:spLocks noGrp="1"/>
          </p:cNvSpPr>
          <p:nvPr>
            <p:ph type="body" sz="quarter" idx="14"/>
          </p:nvPr>
        </p:nvSpPr>
        <p:spPr>
          <a:xfrm>
            <a:off x="294060" y="3426072"/>
            <a:ext cx="4754880" cy="1682750"/>
          </a:xfrm>
        </p:spPr>
        <p:txBody>
          <a:bodyPr>
            <a:noAutofit/>
          </a:bodyPr>
          <a:lstStyle/>
          <a:p>
            <a:r>
              <a:rPr lang="en-US" sz="2400" b="0" dirty="0">
                <a:ea typeface="+mn-lt"/>
                <a:cs typeface="+mn-lt"/>
              </a:rPr>
              <a:t>The dataset used in this project is taken from Kaggle’s Stroke Prediction Dataset. It includes patient details such as age, gender, hypertension, and several other health-related attributes. The main objective is to classify patients into two groups: stroke and non-stroke.</a:t>
            </a:r>
          </a:p>
        </p:txBody>
      </p:sp>
      <p:pic>
        <p:nvPicPr>
          <p:cNvPr id="8" name="صورة 7"/>
          <p:cNvPicPr>
            <a:picLocks noChangeAspect="1"/>
          </p:cNvPicPr>
          <p:nvPr/>
        </p:nvPicPr>
        <p:blipFill>
          <a:blip r:embed="rId3"/>
          <a:stretch>
            <a:fillRect/>
          </a:stretch>
        </p:blipFill>
        <p:spPr>
          <a:xfrm>
            <a:off x="4798529" y="2651009"/>
            <a:ext cx="7307909" cy="32017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5BFCF61C-3B18-4C03-8326-CC3B32D710C9}" type="slidenum">
              <a:rPr lang="en-US" smtClean="0"/>
              <a:t>4</a:t>
            </a:fld>
            <a:endParaRPr lang="en-US"/>
          </a:p>
        </p:txBody>
      </p:sp>
      <p:sp>
        <p:nvSpPr>
          <p:cNvPr id="2" name="Title 1"/>
          <p:cNvSpPr>
            <a:spLocks noGrp="1"/>
          </p:cNvSpPr>
          <p:nvPr>
            <p:ph type="title"/>
          </p:nvPr>
        </p:nvSpPr>
        <p:spPr/>
        <p:txBody>
          <a:bodyPr/>
          <a:lstStyle/>
          <a:p>
            <a:r>
              <a:rPr lang="en-US"/>
              <a:t>Model selection</a:t>
            </a:r>
            <a:br>
              <a:rPr lang="en-US"/>
            </a:br>
            <a:endParaRPr lang="en-US"/>
          </a:p>
        </p:txBody>
      </p:sp>
      <p:sp>
        <p:nvSpPr>
          <p:cNvPr id="3" name="Text Placeholder 2"/>
          <p:cNvSpPr>
            <a:spLocks noGrp="1"/>
          </p:cNvSpPr>
          <p:nvPr>
            <p:ph type="body" sz="quarter" idx="13"/>
          </p:nvPr>
        </p:nvSpPr>
        <p:spPr>
          <a:xfrm>
            <a:off x="382451" y="3430025"/>
            <a:ext cx="4828032" cy="490538"/>
          </a:xfrm>
        </p:spPr>
        <p:txBody>
          <a:bodyPr/>
          <a:lstStyle/>
          <a:p>
            <a:r>
              <a:rPr lang="en-US" sz="1800" b="1" dirty="0">
                <a:solidFill>
                  <a:schemeClr val="tx1"/>
                </a:solidFill>
              </a:rPr>
              <a:t>K-Nearest Neighbors (KNN)</a:t>
            </a:r>
            <a:r>
              <a:rPr lang="en-US" sz="1800" dirty="0">
                <a:solidFill>
                  <a:schemeClr val="tx1"/>
                </a:solidFill>
              </a:rPr>
              <a:t>:</a:t>
            </a:r>
            <a:br>
              <a:rPr lang="en-US">
                <a:solidFill>
                  <a:schemeClr val="tx1"/>
                </a:solidFill>
              </a:rPr>
            </a:br>
            <a:r>
              <a:rPr lang="en-US" sz="1800" b="0" dirty="0">
                <a:solidFill>
                  <a:schemeClr val="tx1"/>
                </a:solidFill>
              </a:rPr>
              <a:t>KNN is a non-parametric algorithm that uses proximity to classify data points. It's simple and works well when the relationship between data points is smooth and continuous.</a:t>
            </a:r>
            <a:endParaRPr lang="en-US" b="0" dirty="0">
              <a:solidFill>
                <a:schemeClr val="tx1"/>
              </a:solidFill>
            </a:endParaRPr>
          </a:p>
        </p:txBody>
      </p:sp>
      <p:sp>
        <p:nvSpPr>
          <p:cNvPr id="9" name="عنصر نائب للنص 8"/>
          <p:cNvSpPr>
            <a:spLocks noGrp="1"/>
          </p:cNvSpPr>
          <p:nvPr>
            <p:ph type="body" sz="quarter" idx="15"/>
          </p:nvPr>
        </p:nvSpPr>
        <p:spPr>
          <a:xfrm>
            <a:off x="6028799" y="2911729"/>
            <a:ext cx="4907715" cy="1773690"/>
          </a:xfrm>
        </p:spPr>
        <p:txBody>
          <a:bodyPr/>
          <a:lstStyle/>
          <a:p>
            <a:r>
              <a:rPr lang="en-US" b="1" dirty="0">
                <a:solidFill>
                  <a:schemeClr val="tx1"/>
                </a:solidFill>
              </a:rPr>
              <a:t>Support Vector Machine (SVM)</a:t>
            </a:r>
            <a:r>
              <a:rPr lang="en-US" dirty="0">
                <a:solidFill>
                  <a:schemeClr val="tx1"/>
                </a:solidFill>
              </a:rPr>
              <a:t>:</a:t>
            </a:r>
            <a:br>
              <a:rPr lang="en-US">
                <a:solidFill>
                  <a:schemeClr val="tx1"/>
                </a:solidFill>
              </a:rPr>
            </a:br>
            <a:r>
              <a:rPr lang="en-US" sz="1800" dirty="0">
                <a:solidFill>
                  <a:schemeClr val="tx1"/>
                </a:solidFill>
              </a:rPr>
              <a:t>SVM is chosen for its ability to handle high-dimensional data and non-linear relationships. It excels in finding the optimal separating hyperplane between different classes.</a:t>
            </a:r>
            <a:endParaRPr lang="ar-SA" sz="1800" dirty="0">
              <a:solidFill>
                <a:schemeClr val="tx1"/>
              </a:solidFill>
            </a:endParaRPr>
          </a:p>
        </p:txBody>
      </p:sp>
      <p:sp>
        <p:nvSpPr>
          <p:cNvPr id="13" name="مربع نص 12"/>
          <p:cNvSpPr txBox="1"/>
          <p:nvPr/>
        </p:nvSpPr>
        <p:spPr>
          <a:xfrm>
            <a:off x="2429256" y="5019248"/>
            <a:ext cx="6096000" cy="1477328"/>
          </a:xfrm>
          <a:prstGeom prst="rect">
            <a:avLst/>
          </a:prstGeom>
          <a:noFill/>
        </p:spPr>
        <p:txBody>
          <a:bodyPr wrap="square">
            <a:spAutoFit/>
          </a:bodyPr>
          <a:lstStyle/>
          <a:p>
            <a:r>
              <a:rPr lang="en-US" b="1"/>
              <a:t>Decision Tree</a:t>
            </a:r>
            <a:r>
              <a:rPr lang="en-US"/>
              <a:t>:</a:t>
            </a:r>
            <a:br>
              <a:rPr lang="en-US"/>
            </a:br>
            <a:r>
              <a:rPr lang="en-US"/>
              <a:t>Decision Trees are chosen for their simplicity and interpretability. They make decisions by splitting the dataset based on feature values, forming a tree-like structure..</a:t>
            </a:r>
            <a:endParaRPr lang="ar-S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5</a:t>
            </a:r>
            <a:endParaRPr lang="en-US" dirty="0"/>
          </a:p>
        </p:txBody>
      </p:sp>
      <p:sp>
        <p:nvSpPr>
          <p:cNvPr id="2" name="Title 1"/>
          <p:cNvSpPr>
            <a:spLocks noGrp="1"/>
          </p:cNvSpPr>
          <p:nvPr>
            <p:ph type="title"/>
          </p:nvPr>
        </p:nvSpPr>
        <p:spPr>
          <a:xfrm>
            <a:off x="10741" y="27432"/>
            <a:ext cx="4846320" cy="1682749"/>
          </a:xfrm>
        </p:spPr>
        <p:txBody>
          <a:bodyPr>
            <a:normAutofit/>
          </a:bodyPr>
          <a:lstStyle/>
          <a:p>
            <a:r>
              <a:rPr lang="en-US" sz="4400"/>
              <a:t>Decision tree:</a:t>
            </a:r>
            <a:br>
              <a:rPr lang="en-US" sz="4400"/>
            </a:br>
            <a:endParaRPr lang="en-US" sz="4400"/>
          </a:p>
        </p:txBody>
      </p:sp>
      <p:pic>
        <p:nvPicPr>
          <p:cNvPr id="4" name="Picture 3" descr="A screenshot of a computer screen&#10;&#10;Description automatically generated"/>
          <p:cNvPicPr>
            <a:picLocks noChangeAspect="1"/>
          </p:cNvPicPr>
          <p:nvPr/>
        </p:nvPicPr>
        <p:blipFill>
          <a:blip r:embed="rId2"/>
          <a:stretch>
            <a:fillRect/>
          </a:stretch>
        </p:blipFill>
        <p:spPr>
          <a:xfrm>
            <a:off x="270010" y="1144553"/>
            <a:ext cx="4137645" cy="2457034"/>
          </a:xfrm>
          <a:prstGeom prst="rect">
            <a:avLst/>
          </a:prstGeom>
        </p:spPr>
      </p:pic>
      <p:pic>
        <p:nvPicPr>
          <p:cNvPr id="5" name="Picture 4"/>
          <p:cNvPicPr>
            <a:picLocks noChangeAspect="1"/>
          </p:cNvPicPr>
          <p:nvPr/>
        </p:nvPicPr>
        <p:blipFill>
          <a:blip r:embed="rId3"/>
          <a:stretch>
            <a:fillRect/>
          </a:stretch>
        </p:blipFill>
        <p:spPr>
          <a:xfrm>
            <a:off x="4856082" y="1142129"/>
            <a:ext cx="6884479" cy="3558278"/>
          </a:xfrm>
          <a:prstGeom prst="rect">
            <a:avLst/>
          </a:prstGeom>
        </p:spPr>
      </p:pic>
      <p:pic>
        <p:nvPicPr>
          <p:cNvPr id="6" name="Picture 5"/>
          <p:cNvPicPr>
            <a:picLocks noChangeAspect="1"/>
          </p:cNvPicPr>
          <p:nvPr/>
        </p:nvPicPr>
        <p:blipFill>
          <a:blip r:embed="rId4"/>
          <a:stretch>
            <a:fillRect/>
          </a:stretch>
        </p:blipFill>
        <p:spPr>
          <a:xfrm>
            <a:off x="271998" y="4163378"/>
            <a:ext cx="2567524" cy="2086113"/>
          </a:xfrm>
          <a:prstGeom prst="rect">
            <a:avLst/>
          </a:prstGeom>
        </p:spPr>
      </p:pic>
      <p:sp>
        <p:nvSpPr>
          <p:cNvPr id="7" name="TextBox 6"/>
          <p:cNvSpPr txBox="1"/>
          <p:nvPr/>
        </p:nvSpPr>
        <p:spPr>
          <a:xfrm>
            <a:off x="3489427" y="4916670"/>
            <a:ext cx="7718714" cy="1323439"/>
          </a:xfrm>
          <a:prstGeom prst="rect">
            <a:avLst/>
          </a:prstGeom>
          <a:noFill/>
        </p:spPr>
        <p:txBody>
          <a:bodyPr wrap="square" lIns="91440" tIns="45720" rIns="91440" bIns="45720" rtlCol="0" anchor="t">
            <a:spAutoFit/>
          </a:bodyPr>
          <a:lstStyle/>
          <a:p>
            <a:pPr>
              <a:buFont typeface="Arial" panose="020B0704020202020204" pitchFamily="34" charset="0"/>
              <a:buChar char="•"/>
            </a:pPr>
            <a:endParaRPr lang="en-US" sz="2000" dirty="0"/>
          </a:p>
          <a:p>
            <a:pPr marL="1143000" lvl="2" indent="-228600">
              <a:buFont typeface="Arial" panose="020B0704020202020204" pitchFamily="34" charset="0"/>
              <a:buChar char="•"/>
            </a:pPr>
            <a:r>
              <a:rPr lang="en-US" sz="2000" dirty="0"/>
              <a:t>The decision tree model had a strong </a:t>
            </a:r>
            <a:r>
              <a:rPr lang="en-US" sz="2000" dirty="0" err="1"/>
              <a:t>accuracyrate</a:t>
            </a:r>
            <a:r>
              <a:rPr lang="en-US" sz="2000" dirty="0"/>
              <a:t> but also did not predict stroke cases, suggesting it may have overfitted the training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5BFCF61C-3B18-4C03-8326-CC3B32D710C9}" type="slidenum">
              <a:rPr lang="en-US" smtClean="0"/>
              <a:t>6</a:t>
            </a:fld>
            <a:endParaRPr lang="en-US"/>
          </a:p>
        </p:txBody>
      </p:sp>
      <p:sp>
        <p:nvSpPr>
          <p:cNvPr id="2" name="Title 1"/>
          <p:cNvSpPr>
            <a:spLocks noGrp="1"/>
          </p:cNvSpPr>
          <p:nvPr>
            <p:ph type="title"/>
          </p:nvPr>
        </p:nvSpPr>
        <p:spPr/>
        <p:txBody>
          <a:bodyPr/>
          <a:lstStyle/>
          <a:p>
            <a:pPr marL="0" indent="0" algn="l" rtl="0" eaLnBrk="1" latinLnBrk="0" hangingPunct="1"/>
            <a:r>
              <a:rPr lang="en-US" sz="4000" b="1" kern="1200">
                <a:effectLst/>
                <a:latin typeface="Arial" panose="020B0704020202020204" pitchFamily="34" charset="0"/>
                <a:ea typeface="+mn-ea"/>
                <a:cs typeface="+mn-cs"/>
              </a:rPr>
              <a:t>K-Nearest Neighbors (KNN):</a:t>
            </a:r>
            <a:br>
              <a:rPr lang="en-US" sz="4000" b="1" kern="1200">
                <a:effectLst/>
                <a:latin typeface="Arial" panose="020B0704020202020204" pitchFamily="34" charset="0"/>
                <a:ea typeface="+mn-ea"/>
                <a:cs typeface="+mn-cs"/>
              </a:rPr>
            </a:br>
            <a:endParaRPr lang="ar-SA" sz="8800">
              <a:effectLst/>
            </a:endParaRPr>
          </a:p>
        </p:txBody>
      </p:sp>
      <p:pic>
        <p:nvPicPr>
          <p:cNvPr id="6" name="Picture 5" descr="A screenshot of a computer&#10;&#10;Description automatically generated"/>
          <p:cNvPicPr>
            <a:picLocks noChangeAspect="1"/>
          </p:cNvPicPr>
          <p:nvPr/>
        </p:nvPicPr>
        <p:blipFill>
          <a:blip r:embed="rId3"/>
          <a:stretch>
            <a:fillRect/>
          </a:stretch>
        </p:blipFill>
        <p:spPr>
          <a:xfrm>
            <a:off x="56461" y="3081781"/>
            <a:ext cx="4497160" cy="2723933"/>
          </a:xfrm>
          <a:prstGeom prst="rect">
            <a:avLst/>
          </a:prstGeom>
        </p:spPr>
      </p:pic>
      <p:pic>
        <p:nvPicPr>
          <p:cNvPr id="8" name="Picture 7"/>
          <p:cNvPicPr>
            <a:picLocks noChangeAspect="1"/>
          </p:cNvPicPr>
          <p:nvPr/>
        </p:nvPicPr>
        <p:blipFill>
          <a:blip r:embed="rId4"/>
          <a:stretch>
            <a:fillRect/>
          </a:stretch>
        </p:blipFill>
        <p:spPr>
          <a:xfrm>
            <a:off x="5321775" y="1041782"/>
            <a:ext cx="6202713" cy="5039704"/>
          </a:xfrm>
          <a:prstGeom prst="rect">
            <a:avLst/>
          </a:prstGeom>
        </p:spPr>
      </p:pic>
      <p:sp>
        <p:nvSpPr>
          <p:cNvPr id="9" name="TextBox 8"/>
          <p:cNvSpPr txBox="1"/>
          <p:nvPr/>
        </p:nvSpPr>
        <p:spPr>
          <a:xfrm>
            <a:off x="174172" y="6177864"/>
            <a:ext cx="10784342" cy="646331"/>
          </a:xfrm>
          <a:prstGeom prst="rect">
            <a:avLst/>
          </a:prstGeom>
          <a:noFill/>
        </p:spPr>
        <p:txBody>
          <a:bodyPr wrap="square" rtlCol="0">
            <a:spAutoFit/>
          </a:bodyPr>
          <a:lstStyle/>
          <a:p>
            <a:pPr marL="285750" indent="-285750">
              <a:buFont typeface="Arial" panose="020B0704020202020204" pitchFamily="34" charset="0"/>
              <a:buChar char="•"/>
            </a:pPr>
            <a:r>
              <a:rPr lang="en-US" dirty="0"/>
              <a:t>Although KNN showed high accuracy, it failed to predict any stroke cases, indicating a lack of sensitivity to this critical class.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5BFCF61C-3B18-4C03-8326-CC3B32D710C9}" type="slidenum">
              <a:rPr lang="en-US" smtClean="0"/>
              <a:t>7</a:t>
            </a:fld>
            <a:endParaRPr lang="en-US"/>
          </a:p>
        </p:txBody>
      </p:sp>
      <p:sp>
        <p:nvSpPr>
          <p:cNvPr id="2" name="Title 1"/>
          <p:cNvSpPr>
            <a:spLocks noGrp="1"/>
          </p:cNvSpPr>
          <p:nvPr>
            <p:ph type="title"/>
          </p:nvPr>
        </p:nvSpPr>
        <p:spPr/>
        <p:txBody>
          <a:bodyPr/>
          <a:lstStyle/>
          <a:p>
            <a:r>
              <a:rPr lang="en-US" sz="4000" b="1"/>
              <a:t>Support Vector Machine (SVM)</a:t>
            </a:r>
            <a:r>
              <a:rPr lang="en-US" sz="4000"/>
              <a:t>:</a:t>
            </a:r>
            <a:br>
              <a:rPr lang="en-US"/>
            </a:br>
            <a:endParaRPr lang="en-US"/>
          </a:p>
        </p:txBody>
      </p:sp>
      <p:pic>
        <p:nvPicPr>
          <p:cNvPr id="4" name="صورة 3" descr="صورة تحتوي على نص, لقطة شاشة, برمجيات, برامج الوسائط المتعددة&#10;&#10;تم إنشاء الوصف تلقائياً"/>
          <p:cNvPicPr>
            <a:picLocks noChangeAspect="1"/>
          </p:cNvPicPr>
          <p:nvPr/>
        </p:nvPicPr>
        <p:blipFill>
          <a:blip r:embed="rId2"/>
          <a:stretch>
            <a:fillRect/>
          </a:stretch>
        </p:blipFill>
        <p:spPr>
          <a:xfrm>
            <a:off x="6034890" y="1126549"/>
            <a:ext cx="5760870" cy="5012994"/>
          </a:xfrm>
          <a:prstGeom prst="rect">
            <a:avLst/>
          </a:prstGeom>
        </p:spPr>
      </p:pic>
      <p:pic>
        <p:nvPicPr>
          <p:cNvPr id="7" name="صورة 6" descr="صورة تحتوي على نص, لقطة شاشة, الخط, رقم&#10;&#10;تم إنشاء الوصف تلقائياً"/>
          <p:cNvPicPr>
            <a:picLocks noChangeAspect="1"/>
          </p:cNvPicPr>
          <p:nvPr/>
        </p:nvPicPr>
        <p:blipFill>
          <a:blip r:embed="rId3"/>
          <a:stretch>
            <a:fillRect/>
          </a:stretch>
        </p:blipFill>
        <p:spPr>
          <a:xfrm>
            <a:off x="896880" y="3776220"/>
            <a:ext cx="4877481" cy="2343477"/>
          </a:xfrm>
          <a:prstGeom prst="rect">
            <a:avLst/>
          </a:prstGeom>
        </p:spPr>
      </p:pic>
      <p:sp>
        <p:nvSpPr>
          <p:cNvPr id="3" name="TextBox 2"/>
          <p:cNvSpPr txBox="1"/>
          <p:nvPr/>
        </p:nvSpPr>
        <p:spPr>
          <a:xfrm>
            <a:off x="377372" y="6302096"/>
            <a:ext cx="6994222" cy="369332"/>
          </a:xfrm>
          <a:prstGeom prst="rect">
            <a:avLst/>
          </a:prstGeom>
          <a:noFill/>
        </p:spPr>
        <p:txBody>
          <a:bodyPr wrap="none" rtlCol="0">
            <a:spAutoFit/>
          </a:bodyPr>
          <a:lstStyle/>
          <a:p>
            <a:r>
              <a:rPr lang="en-US" dirty="0"/>
              <a:t>Excellent overall performance but struggled to predict stroke cases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r>
              <a:rPr lang="en-US"/>
              <a:t>8</a:t>
            </a:r>
            <a:endParaRPr lang="en-US" dirty="0"/>
          </a:p>
        </p:txBody>
      </p:sp>
      <p:sp>
        <p:nvSpPr>
          <p:cNvPr id="2" name="Title 1"/>
          <p:cNvSpPr>
            <a:spLocks noGrp="1"/>
          </p:cNvSpPr>
          <p:nvPr>
            <p:ph type="title"/>
          </p:nvPr>
        </p:nvSpPr>
        <p:spPr/>
        <p:txBody>
          <a:bodyPr/>
          <a:lstStyle/>
          <a:p>
            <a:r>
              <a:rPr lang="en-US"/>
              <a:t>Tools:</a:t>
            </a:r>
            <a:br>
              <a:rPr lang="en-US"/>
            </a:br>
            <a:endParaRPr lang="en-US"/>
          </a:p>
        </p:txBody>
      </p:sp>
      <p:sp>
        <p:nvSpPr>
          <p:cNvPr id="5" name="Text Placeholder 4"/>
          <p:cNvSpPr>
            <a:spLocks noGrp="1"/>
          </p:cNvSpPr>
          <p:nvPr>
            <p:ph type="body" sz="quarter" idx="13"/>
          </p:nvPr>
        </p:nvSpPr>
        <p:spPr>
          <a:xfrm>
            <a:off x="4820920" y="2775567"/>
            <a:ext cx="4754880" cy="1682750"/>
          </a:xfrm>
        </p:spPr>
        <p:txBody>
          <a:bodyPr vert="horz" lIns="91440" tIns="45720" rIns="91440" bIns="45720" rtlCol="0" anchor="ctr">
            <a:noAutofit/>
          </a:bodyPr>
          <a:lstStyle/>
          <a:p>
            <a:pPr marL="0" indent="0">
              <a:buNone/>
            </a:pPr>
            <a:r>
              <a:rPr lang="en-US" sz="1800" b="1" dirty="0"/>
              <a:t>Tools Used</a:t>
            </a:r>
            <a:r>
              <a:rPr lang="en-US" sz="1800" dirty="0"/>
              <a:t>:</a:t>
            </a:r>
            <a:br>
              <a:rPr lang="en-US" sz="1800" dirty="0"/>
            </a:br>
            <a:r>
              <a:rPr lang="en-US" sz="1800" dirty="0"/>
              <a:t>We implemented the models using Python, utilizing libraries such as scikit-learn and Pandas. All the work was done on Google </a:t>
            </a:r>
            <a:r>
              <a:rPr lang="en-US" sz="1800" dirty="0" err="1"/>
              <a:t>Colab</a:t>
            </a:r>
            <a:r>
              <a:rPr lang="en-US" sz="1800" dirty="0"/>
              <a:t> and </a:t>
            </a:r>
            <a:r>
              <a:rPr lang="en-US" sz="1800" dirty="0" err="1"/>
              <a:t>Jupyter</a:t>
            </a:r>
            <a:r>
              <a:rPr lang="en-US" sz="1800" dirty="0"/>
              <a:t>, ensuring ease of collaboration among team members.</a:t>
            </a:r>
          </a:p>
          <a:p>
            <a:pPr marL="0" indent="0">
              <a:buNone/>
            </a:pPr>
            <a:r>
              <a:rPr lang="en-US" sz="1800" b="1"/>
              <a:t>Steps</a:t>
            </a:r>
            <a:r>
              <a:rPr lang="en-US" sz="1800"/>
              <a:t>:</a:t>
            </a:r>
            <a:endParaRPr lang="en-US" sz="1800" dirty="0"/>
          </a:p>
          <a:p>
            <a:pPr>
              <a:buFont typeface="+mj-lt"/>
              <a:buAutoNum type="arabicPeriod"/>
            </a:pPr>
            <a:r>
              <a:rPr lang="en-US" sz="1800"/>
              <a:t>Data preprocessing: Handling missing values, and scaling features for SVM and KNN.</a:t>
            </a:r>
            <a:endParaRPr lang="en-US" sz="1800" dirty="0"/>
          </a:p>
          <a:p>
            <a:pPr>
              <a:buFont typeface="+mj-lt"/>
              <a:buAutoNum type="arabicPeriod"/>
            </a:pPr>
            <a:r>
              <a:rPr lang="en-US" sz="1800"/>
              <a:t>Train-test split: We divided the dataset into 80% training and 20% testing data.</a:t>
            </a:r>
            <a:endParaRPr lang="en-US" sz="1800" dirty="0"/>
          </a:p>
          <a:p>
            <a:pPr>
              <a:buFont typeface="+mj-lt"/>
              <a:buAutoNum type="arabicPeriod"/>
            </a:pPr>
            <a:r>
              <a:rPr lang="en-US" sz="1800"/>
              <a:t>Model setup: Each model was configured with default parameters, followed by training and testing.</a:t>
            </a:r>
            <a:endParaRPr lang="en-US" sz="1800" dirty="0"/>
          </a:p>
          <a:p>
            <a:pPr marL="0" indent="0">
              <a:buNone/>
            </a:pP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5BFCF61C-3B18-4C03-8326-CC3B32D710C9}" type="slidenum">
              <a:rPr lang="en-US" smtClean="0"/>
              <a:t>9</a:t>
            </a:fld>
            <a:endParaRPr lang="en-US"/>
          </a:p>
        </p:txBody>
      </p:sp>
      <p:sp>
        <p:nvSpPr>
          <p:cNvPr id="2" name="Title 1"/>
          <p:cNvSpPr>
            <a:spLocks noGrp="1"/>
          </p:cNvSpPr>
          <p:nvPr>
            <p:ph type="title"/>
          </p:nvPr>
        </p:nvSpPr>
        <p:spPr>
          <a:xfrm>
            <a:off x="411480" y="1500981"/>
            <a:ext cx="4846320" cy="1682749"/>
          </a:xfrm>
        </p:spPr>
        <p:txBody>
          <a:bodyPr/>
          <a:lstStyle/>
          <a:p>
            <a:r>
              <a:rPr lang="en-US"/>
              <a:t>Discussion</a:t>
            </a:r>
          </a:p>
        </p:txBody>
      </p:sp>
      <p:sp>
        <p:nvSpPr>
          <p:cNvPr id="3" name="Text Placeholder 2"/>
          <p:cNvSpPr>
            <a:spLocks noGrp="1"/>
          </p:cNvSpPr>
          <p:nvPr>
            <p:ph type="body" sz="quarter" idx="13"/>
          </p:nvPr>
        </p:nvSpPr>
        <p:spPr>
          <a:xfrm>
            <a:off x="6675337" y="193642"/>
            <a:ext cx="4828032" cy="490538"/>
          </a:xfrm>
        </p:spPr>
        <p:txBody>
          <a:bodyPr/>
          <a:lstStyle/>
          <a:p>
            <a:r>
              <a:rPr lang="en-US"/>
              <a:t>Model Comparison</a:t>
            </a:r>
          </a:p>
        </p:txBody>
      </p:sp>
      <p:sp>
        <p:nvSpPr>
          <p:cNvPr id="4" name="Text Placeholder 3"/>
          <p:cNvSpPr>
            <a:spLocks noGrp="1"/>
          </p:cNvSpPr>
          <p:nvPr>
            <p:ph type="body" sz="quarter" idx="14"/>
          </p:nvPr>
        </p:nvSpPr>
        <p:spPr>
          <a:xfrm>
            <a:off x="6604000" y="5425654"/>
            <a:ext cx="4828032" cy="490538"/>
          </a:xfrm>
        </p:spPr>
        <p:txBody>
          <a:bodyPr/>
          <a:lstStyle/>
          <a:p>
            <a:r>
              <a:rPr lang="en-US"/>
              <a:t>Challenge :</a:t>
            </a:r>
          </a:p>
          <a:p>
            <a:pPr>
              <a:buFont typeface="Arial" panose="020B0704020202020204" pitchFamily="34" charset="0"/>
              <a:buChar char="•"/>
            </a:pPr>
            <a:r>
              <a:rPr lang="en-US" sz="1600" b="0"/>
              <a:t>Handling missing values in the dataset.</a:t>
            </a:r>
          </a:p>
          <a:p>
            <a:pPr>
              <a:buFont typeface="Arial" panose="020B0704020202020204" pitchFamily="34" charset="0"/>
              <a:buChar char="•"/>
            </a:pPr>
            <a:r>
              <a:rPr lang="en-US" sz="1600" b="0"/>
              <a:t>Computational cost for KNN, especially with large datasets.</a:t>
            </a:r>
          </a:p>
          <a:p>
            <a:pPr>
              <a:buFont typeface="Arial" panose="020B0704020202020204" pitchFamily="34" charset="0"/>
              <a:buChar char="•"/>
            </a:pPr>
            <a:r>
              <a:rPr lang="en-US" sz="1600" b="0"/>
              <a:t>Tuning hyperparameters for optimal performance.</a:t>
            </a:r>
          </a:p>
          <a:p>
            <a:endParaRPr lang="en-US" sz="1800" b="0"/>
          </a:p>
          <a:p>
            <a:endParaRPr lang="en-US"/>
          </a:p>
        </p:txBody>
      </p:sp>
      <p:sp>
        <p:nvSpPr>
          <p:cNvPr id="5" name="Text Placeholder 4"/>
          <p:cNvSpPr>
            <a:spLocks noGrp="1"/>
          </p:cNvSpPr>
          <p:nvPr>
            <p:ph type="body" sz="quarter" idx="15"/>
          </p:nvPr>
        </p:nvSpPr>
        <p:spPr>
          <a:xfrm>
            <a:off x="6600372" y="1500981"/>
            <a:ext cx="4754880" cy="1682750"/>
          </a:xfrm>
        </p:spPr>
        <p:txBody>
          <a:bodyPr/>
          <a:lstStyle/>
          <a:p>
            <a:pPr marL="0" indent="0">
              <a:buNone/>
            </a:pPr>
            <a:r>
              <a:rPr lang="en-US"/>
              <a:t>SVM outperformed the other models in terms of accuracy and F1-score. This can be attributed to SVM’s strength in handling complex, high-dimensional data. KNN also performed well but took longer to compute as it calculates the distance between each point. The Decision Tree, while easy to interpret, had slightly lower performance due to overfitting on the training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p:cNvSpPr>
            <a:spLocks noGrp="1"/>
          </p:cNvSpPr>
          <p:nvPr>
            <p:ph type="sldNum" sz="quarter" idx="12"/>
          </p:nvPr>
        </p:nvSpPr>
        <p:spPr/>
        <p:txBody>
          <a:bodyPr/>
          <a:lstStyle/>
          <a:p>
            <a:fld id="{5BFCF61C-3B18-4C03-8326-CC3B32D710C9}" type="slidenum">
              <a:rPr lang="en-US" smtClean="0"/>
              <a:t>10</a:t>
            </a:fld>
            <a:endParaRPr lang="en-US"/>
          </a:p>
        </p:txBody>
      </p:sp>
      <p:sp>
        <p:nvSpPr>
          <p:cNvPr id="2" name="Title 1"/>
          <p:cNvSpPr>
            <a:spLocks noGrp="1"/>
          </p:cNvSpPr>
          <p:nvPr>
            <p:ph type="title"/>
          </p:nvPr>
        </p:nvSpPr>
        <p:spPr>
          <a:xfrm>
            <a:off x="411480" y="1500981"/>
            <a:ext cx="4846320" cy="1682749"/>
          </a:xfrm>
        </p:spPr>
        <p:txBody>
          <a:bodyPr/>
          <a:lstStyle/>
          <a:p>
            <a:r>
              <a:rPr lang="en-US">
                <a:cs typeface="Arial" panose="020B0704020202020204"/>
              </a:rPr>
              <a:t>Results:</a:t>
            </a:r>
          </a:p>
        </p:txBody>
      </p:sp>
      <p:sp>
        <p:nvSpPr>
          <p:cNvPr id="5" name="Text Placeholder 4"/>
          <p:cNvSpPr>
            <a:spLocks noGrp="1"/>
          </p:cNvSpPr>
          <p:nvPr>
            <p:ph type="body" sz="quarter" idx="13"/>
          </p:nvPr>
        </p:nvSpPr>
        <p:spPr>
          <a:xfrm>
            <a:off x="6048555" y="1587245"/>
            <a:ext cx="4798012" cy="4026259"/>
          </a:xfrm>
        </p:spPr>
        <p:txBody>
          <a:bodyPr/>
          <a:lstStyle/>
          <a:p>
            <a:pPr marL="0" indent="0">
              <a:buNone/>
            </a:pPr>
            <a:r>
              <a:rPr lang="en-US"/>
              <a:t>We compared three algorithms for stroke prediction: </a:t>
            </a:r>
            <a:r>
              <a:rPr lang="en-US" b="1"/>
              <a:t>SVM</a:t>
            </a:r>
            <a:r>
              <a:rPr lang="en-US"/>
              <a:t>, </a:t>
            </a:r>
            <a:r>
              <a:rPr lang="en-US" b="1"/>
              <a:t>Decision Tree</a:t>
            </a:r>
            <a:r>
              <a:rPr lang="en-US"/>
              <a:t>, and </a:t>
            </a:r>
            <a:r>
              <a:rPr lang="en-US" b="1"/>
              <a:t>KNN. SVM</a:t>
            </a:r>
            <a:r>
              <a:rPr lang="en-US"/>
              <a:t> performed the best between them, providing excellent accuracy because of it's ability to handle complicated data.. </a:t>
            </a:r>
            <a:r>
              <a:rPr lang="en-US" b="1"/>
              <a:t>KNN</a:t>
            </a:r>
            <a:r>
              <a:rPr lang="en-US"/>
              <a:t> also provided good results but was slower and more computationally expensive. </a:t>
            </a:r>
            <a:r>
              <a:rPr lang="en-US" b="1"/>
              <a:t>Decision Tree</a:t>
            </a:r>
            <a:r>
              <a:rPr lang="en-US"/>
              <a:t> , On the other hand was easy to understand but struggled with overfitting, leading to lower accuracy. Overall, </a:t>
            </a:r>
            <a:r>
              <a:rPr lang="en-US" b="1"/>
              <a:t>SVM </a:t>
            </a:r>
            <a:r>
              <a:rPr lang="en-US"/>
              <a:t>turned out to be the best model overall for this job.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612D5-9885-FA50-2B65-DA8ACE7405B1}"/>
              </a:ext>
            </a:extLst>
          </p:cNvPr>
          <p:cNvSpPr>
            <a:spLocks noGrp="1"/>
          </p:cNvSpPr>
          <p:nvPr>
            <p:ph type="title"/>
          </p:nvPr>
        </p:nvSpPr>
        <p:spPr/>
        <p:txBody>
          <a:bodyPr/>
          <a:lstStyle/>
          <a:p>
            <a:r>
              <a:rPr lang="en-GB"/>
              <a:t>GITHUB</a:t>
            </a:r>
          </a:p>
        </p:txBody>
      </p:sp>
      <p:sp>
        <p:nvSpPr>
          <p:cNvPr id="3" name="Text Placeholder 2">
            <a:extLst>
              <a:ext uri="{FF2B5EF4-FFF2-40B4-BE49-F238E27FC236}">
                <a16:creationId xmlns:a16="http://schemas.microsoft.com/office/drawing/2014/main" id="{08A7B398-5DC7-4215-3588-0EE617F900E5}"/>
              </a:ext>
            </a:extLst>
          </p:cNvPr>
          <p:cNvSpPr>
            <a:spLocks noGrp="1"/>
          </p:cNvSpPr>
          <p:nvPr>
            <p:ph type="body" sz="quarter" idx="13"/>
          </p:nvPr>
        </p:nvSpPr>
        <p:spPr/>
        <p:txBody>
          <a:bodyPr/>
          <a:lstStyle/>
          <a:p>
            <a:r>
              <a:rPr lang="en-GB" dirty="0"/>
              <a:t>Code and </a:t>
            </a:r>
            <a:r>
              <a:rPr lang="en-GB"/>
              <a:t>Dataset Line</a:t>
            </a:r>
            <a:endParaRPr lang="en-GB" dirty="0"/>
          </a:p>
        </p:txBody>
      </p:sp>
      <p:sp>
        <p:nvSpPr>
          <p:cNvPr id="4" name="Text Placeholder 3">
            <a:extLst>
              <a:ext uri="{FF2B5EF4-FFF2-40B4-BE49-F238E27FC236}">
                <a16:creationId xmlns:a16="http://schemas.microsoft.com/office/drawing/2014/main" id="{AD29E973-5DD4-D01A-1553-946FD3F927B1}"/>
              </a:ext>
            </a:extLst>
          </p:cNvPr>
          <p:cNvSpPr>
            <a:spLocks noGrp="1"/>
          </p:cNvSpPr>
          <p:nvPr>
            <p:ph type="body" sz="quarter" idx="14"/>
          </p:nvPr>
        </p:nvSpPr>
        <p:spPr/>
        <p:txBody>
          <a:bodyPr/>
          <a:lstStyle/>
          <a:p>
            <a:r>
              <a:rPr lang="en-GB"/>
              <a:t>Dataset Source</a:t>
            </a:r>
          </a:p>
        </p:txBody>
      </p:sp>
      <p:sp>
        <p:nvSpPr>
          <p:cNvPr id="5" name="Text Placeholder 4">
            <a:extLst>
              <a:ext uri="{FF2B5EF4-FFF2-40B4-BE49-F238E27FC236}">
                <a16:creationId xmlns:a16="http://schemas.microsoft.com/office/drawing/2014/main" id="{08EA7C35-717C-60CB-ADE7-57CE670DB8F4}"/>
              </a:ext>
            </a:extLst>
          </p:cNvPr>
          <p:cNvSpPr>
            <a:spLocks noGrp="1"/>
          </p:cNvSpPr>
          <p:nvPr>
            <p:ph type="body" sz="quarter" idx="15"/>
          </p:nvPr>
        </p:nvSpPr>
        <p:spPr/>
        <p:txBody>
          <a:bodyPr/>
          <a:lstStyle/>
          <a:p>
            <a:r>
              <a:rPr lang="en-GB" dirty="0">
                <a:ea typeface="+mn-lt"/>
                <a:cs typeface="+mn-lt"/>
              </a:rPr>
              <a:t>https://github.com/murpanik/Stroke-Prediction-using-Machine-Learning/blob/main/README.md</a:t>
            </a:r>
            <a:endParaRPr lang="en-GB"/>
          </a:p>
        </p:txBody>
      </p:sp>
      <p:sp>
        <p:nvSpPr>
          <p:cNvPr id="6" name="Text Placeholder 5">
            <a:extLst>
              <a:ext uri="{FF2B5EF4-FFF2-40B4-BE49-F238E27FC236}">
                <a16:creationId xmlns:a16="http://schemas.microsoft.com/office/drawing/2014/main" id="{8CCE9BFA-C9CF-4C73-F0E9-C53E0A167AD3}"/>
              </a:ext>
            </a:extLst>
          </p:cNvPr>
          <p:cNvSpPr>
            <a:spLocks noGrp="1"/>
          </p:cNvSpPr>
          <p:nvPr>
            <p:ph type="body" sz="quarter" idx="16"/>
          </p:nvPr>
        </p:nvSpPr>
        <p:spPr>
          <a:xfrm>
            <a:off x="5971032" y="3749015"/>
            <a:ext cx="4754880" cy="1682750"/>
          </a:xfrm>
        </p:spPr>
        <p:txBody>
          <a:bodyPr/>
          <a:lstStyle/>
          <a:p>
            <a:r>
              <a:rPr lang="en-GB" dirty="0">
                <a:ea typeface="+mn-lt"/>
                <a:cs typeface="+mn-lt"/>
              </a:rPr>
              <a:t>https://www.kaggle.com/code/rishabh057/healthcare-dataset-stroke-data/input</a:t>
            </a:r>
            <a:endParaRPr lang="en-GB">
              <a:ea typeface="+mn-lt"/>
              <a:cs typeface="+mn-lt"/>
            </a:endParaRPr>
          </a:p>
        </p:txBody>
      </p:sp>
    </p:spTree>
    <p:extLst>
      <p:ext uri="{BB962C8B-B14F-4D97-AF65-F5344CB8AC3E}">
        <p14:creationId xmlns:p14="http://schemas.microsoft.com/office/powerpoint/2010/main" val="391996954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ID="0x01010079F111ED35F8CC479449609E8A0923A6" ma:contentTypeScope="" ma:contentTypeVersion="24" ma:contentTypeDescription="Create a new document." ma:contentTypeName="Document" ma:versionID="2d714a3296df14eba7a100bb665443ca">
  <xsd:schema xmlns:ns3="16c05727-aa75-4e4a-9b5f-8a80a1165891" xmlns:ns4="230e9df3-be65-4c73-a93b-d1236ebd677e" xmlns:xsd="http://www.w3.org/2001/XMLSchema" xmlns:p="http://schemas.microsoft.com/office/2006/metadata/properties" xmlns:xs="http://www.w3.org/2001/XMLSchema" xmlns:ns1="http://schemas.microsoft.com/sharepoint/v3" xmlns:ns2="71af3243-3dd4-4a8d-8c0d-dd76da1f02a5" targetNamespace="http://schemas.microsoft.com/office/2006/metadata/properties" ns2:_="" ns4:_="" ma:root="true" ns1:_="" ns3:_="" ma:fieldsID="49549bf45bfbbfb6cffed527380e77e1">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minOccurs="0" ref="ns2:Status"/>
                <xsd:element minOccurs="0" ref="ns2:Image"/>
                <xsd:element minOccurs="0" ref="ns2:MediaServiceMetadata"/>
                <xsd:element minOccurs="0" ref="ns2:MediaServiceFastMetadata"/>
                <xsd:element minOccurs="0" ref="ns2:MediaServiceOCR"/>
                <xsd:element minOccurs="0" ref="ns2:MediaServiceAutoTags"/>
                <xsd:element minOccurs="0" ref="ns2:MediaServiceEventHashCode"/>
                <xsd:element minOccurs="0" ref="ns2:MediaServiceGenerationTime"/>
                <xsd:element minOccurs="0" ref="ns3:SharedWithUsers"/>
                <xsd:element minOccurs="0" ref="ns3:SharedWithDetails"/>
                <xsd:element minOccurs="0" ref="ns2:MediaServiceAutoKeyPoints"/>
                <xsd:element minOccurs="0" ref="ns2:MediaServiceKeyPoints"/>
                <xsd:element minOccurs="0" ref="ns2:MediaServiceDateTaken"/>
                <xsd:element minOccurs="0" ref="ns1:_ip_UnifiedCompliancePolicyProperties"/>
                <xsd:element minOccurs="0" ref="ns1:_ip_UnifiedCompliancePolicyUIAction"/>
                <xsd:element minOccurs="0" ref="ns4:TaxCatchAll"/>
                <xsd:element minOccurs="0" ref="ns2:ImageTagsTaxHTField"/>
                <xsd:element minOccurs="0" ref="ns2:MediaServiceLocation"/>
                <xsd:element minOccurs="0" ref="ns2:MediaLengthInSeconds"/>
                <xsd:element minOccurs="0" ref="ns2:Background"/>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ma:hidden="true" nillable="true" ma:internalName="_ip_UnifiedCompliancePolicyProperties" ma:readOnly="false" ma:displayName="Unified Compliance Policy Properties">
      <xsd:simpleType>
        <xsd:restriction base="dms:Note"/>
      </xsd:simpleType>
    </xsd:element>
    <xsd:element name="_ip_UnifiedCompliancePolicyUIAction" ma:index="21" ma:hidden="true" nillable="true" ma:internalName="_ip_UnifiedCompliancePolicyUIAction" ma:readOnly="false" ma:displayName="Unified Compliance Policy UI 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ma:default="Not started" nillable="true" ma:format="Dropdown" ma:internalName="Status" ma:readOnly="false" ma:displayName="Status">
      <xsd:simpleType>
        <xsd:restriction base="dms:Choice">
          <xsd:enumeration value="Not started"/>
          <xsd:enumeration value="In Progress"/>
          <xsd:enumeration value="Completed"/>
        </xsd:restriction>
      </xsd:simpleType>
    </xsd:element>
    <xsd:element name="Image" ma:index="3" nillable="true" ma:format="Image" ma:internalName="Image" ma:readOnly="false" ma:displayName="Image">
      <xsd:complexType>
        <xsd:complexContent>
          <xsd:extension base="dms:URL">
            <xsd:sequence>
              <xsd:element name="Url" minOccurs="0" type="dms:ValidUrl" nillable="true"/>
              <xsd:element name="Description" type="xsd:string" nillable="true"/>
            </xsd:sequence>
          </xsd:extension>
        </xsd:complexContent>
      </xsd:complexType>
    </xsd:element>
    <xsd:element name="MediaServiceMetadata" ma:index="8" ma:hidden="true" nillable="true" ma:internalName="MediaServiceMetadata" ma:readOnly="true" ma:displayName="MediaServiceMetadata">
      <xsd:simpleType>
        <xsd:restriction base="dms:Note"/>
      </xsd:simpleType>
    </xsd:element>
    <xsd:element name="MediaServiceFastMetadata" ma:index="9" ma:hidden="true" nillable="true" ma:internalName="MediaServiceFastMetadata" ma:readOnly="true" ma:displayName="MediaServiceFastMetadata">
      <xsd:simpleType>
        <xsd:restriction base="dms:Note"/>
      </xsd:simpleType>
    </xsd:element>
    <xsd:element name="MediaServiceOCR" ma:index="10" ma:hidden="true" nillable="true" ma:internalName="MediaServiceOCR" ma:readOnly="true" ma:displayName="MediaServiceOCR">
      <xsd:simpleType>
        <xsd:restriction base="dms:Note"/>
      </xsd:simpleType>
    </xsd:element>
    <xsd:element name="MediaServiceAutoTags" ma:index="11" ma:hidden="true" nillable="true" ma:internalName="MediaServiceAutoTags" ma:readOnly="true" ma:displayName="MediaServiceAutoTags">
      <xsd:simpleType>
        <xsd:restriction base="dms:Text"/>
      </xsd:simpleType>
    </xsd:element>
    <xsd:element name="MediaServiceEventHashCode" ma:index="12" ma:hidden="true" nillable="true" ma:internalName="MediaServiceEventHashCode" ma:readOnly="true" ma:displayName="MediaServiceEventHashCode">
      <xsd:simpleType>
        <xsd:restriction base="dms:Text"/>
      </xsd:simpleType>
    </xsd:element>
    <xsd:element name="MediaServiceGenerationTime" ma:index="13" ma:hidden="true" nillable="true" ma:internalName="MediaServiceGenerationTime" ma:readOnly="true" ma:displayName="MediaServiceGenerationTime">
      <xsd:simpleType>
        <xsd:restriction base="dms:Text"/>
      </xsd:simpleType>
    </xsd:element>
    <xsd:element name="MediaServiceAutoKeyPoints" ma:index="16" ma:hidden="true" nillable="true" ma:internalName="MediaServiceAutoKeyPoints" ma:readOnly="true" ma:displayName="MediaServiceAutoKeyPoints">
      <xsd:simpleType>
        <xsd:restriction base="dms:Note"/>
      </xsd:simpleType>
    </xsd:element>
    <xsd:element name="MediaServiceKeyPoints" ma:index="17" ma:hidden="true" nillable="true" ma:internalName="MediaServiceKeyPoints" ma:readOnly="false" ma:displayName="KeyPoints">
      <xsd:simpleType>
        <xsd:restriction base="dms:Note"/>
      </xsd:simpleType>
    </xsd:element>
    <xsd:element name="MediaServiceDateTaken" ma:index="18" ma:hidden="true" nillable="true" ma:internalName="MediaServiceDateTaken" ma:readOnly="true" ma:displayName="MediaServiceDateTaken">
      <xsd:simpleType>
        <xsd:restriction base="dms:Text"/>
      </xsd:simpleType>
    </xsd:element>
    <xsd:element name="ImageTagsTaxHTField" ma:index="25" ma:fieldId="{5cf76f15-5ced-4ddc-b409-7134ff3c332f}" ma:taxonomy="true" ma:open="true" ma:isKeyword="false" ma:taxonomyFieldName="MediaServiceImageTags" ma:termSetId="09814cd3-568e-fe90-9814-8d621ff8fb84" ma:taxonomyMulti="true" nillable="true" ma:internalName="ImageTagsTaxHTField" ma:anchorId="fba54fb3-c3e1-fe81-a776-ca4b69148c4d" ma:readOnly="false" ma:sspId="e385fb40-52d4-4fae-9c5b-3e8ff8a5878e" ma:displayName="Image Tags">
      <xsd:complexType>
        <xsd:sequence>
          <xsd:element maxOccurs="1" minOccurs="0" ref="pc:Terms"/>
        </xsd:sequence>
      </xsd:complexType>
    </xsd:element>
    <xsd:element name="MediaServiceLocation" ma:index="26" ma:hidden="true" nillable="true" ma:internalName="MediaServiceLocation" ma:readOnly="true" ma:displayName="Location">
      <xsd:simpleType>
        <xsd:restriction base="dms:Text"/>
      </xsd:simpleType>
    </xsd:element>
    <xsd:element name="MediaLengthInSeconds" ma:index="27" ma:hidden="true" nillable="true" ma:internalName="MediaLengthInSeconds" ma:readOnly="true" ma:displayName="MediaLengthInSeconds">
      <xsd:simpleType>
        <xsd:restriction base="dms:Unknown"/>
      </xsd:simpleType>
    </xsd:element>
    <xsd:element name="Background" ma:index="28" ma:default="0" nillable="true" ma:format="Dropdown" ma:internalName="Background" ma:display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ma:hidden="true" nillable="true" ma:internalName="SharedWithUsers" ma:readOnly="true" ma:displayName="Shared With">
      <xsd:complexType>
        <xsd:complexContent>
          <xsd:extension base="dms:UserMulti">
            <xsd:sequence>
              <xsd:element name="UserInfo" maxOccurs="unbounded" minOccurs="0">
                <xsd:complexType>
                  <xsd:sequence>
                    <xsd:element name="DisplayName" minOccurs="0" type="xsd:string"/>
                    <xsd:element name="AccountId" minOccurs="0" type="dms:UserId" nillable="true"/>
                    <xsd:element name="AccountType" minOccurs="0" type="xsd:string"/>
                  </xsd:sequence>
                </xsd:complexType>
              </xsd:element>
            </xsd:sequence>
          </xsd:extension>
        </xsd:complexContent>
      </xsd:complexType>
    </xsd:element>
    <xsd:element name="SharedWithDetails" ma:index="15" ma:hidden="true" nillable="true" ma:internalName="SharedWithDetails" ma:readOnly="true" ma:displayName="Shared With Details">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ma:hidden="true" ma:list="{3f6bfcbc-3db3-4ae6-bd76-326f0798ad28}" nillable="true" ma:internalName="TaxCatchAll" ma:web="16c05727-aa75-4e4a-9b5f-8a80a1165891" ma:readOnly="false" ma:displayName="Taxonomy Catch All Column" ma:showField="CatchAllData">
      <xsd:complexType>
        <xsd:complexContent>
          <xsd:extension base="dms:MultiChoiceLookup">
            <xsd:sequence>
              <xsd:element name="Value" maxOccurs="unbounded" minOccurs="0" type="dms:Lookup" nillable="true"/>
            </xsd:sequence>
          </xsd:extension>
        </xsd:complexContent>
      </xsd:complexType>
    </xsd:element>
  </xsd:schema>
  <xsd:schema xmlns="http://schemas.openxmlformats.org/package/2006/metadata/core-properties" xmlns:dc="http://purl.org/dc/elements/1.1/" xmlns:dcterms="http://purl.org/dc/terms/" xmlns:xsd="http://www.w3.org/2001/XMLSchema" xmlns:odoc="http://schemas.microsoft.com/internal/obd" xmlns:xsi="http://www.w3.org/2001/XMLSchema-instance" attributeFormDefault="unqualified" targetNamespace="http://schemas.openxmlformats.org/package/2006/metadata/core-properties" blockDefault="#all" elementFormDefault="qualified">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maxOccurs="1" minOccurs="0" ref="dc:creator"/>
        <xsd:element maxOccurs="1" minOccurs="0" ref="dcterms:created"/>
        <xsd:element maxOccurs="1" minOccurs="0" ref="dc:identifier"/>
        <xsd:element name="contentType" maxOccurs="1" minOccurs="0" type="xsd:string" ma:displayName="Content Type"/>
        <xsd:element ma:index="1" maxOccurs="1" minOccurs="0" ref="dc:title" ma:displayName="Title"/>
        <xsd:element maxOccurs="1" minOccurs="0" ref="dc:subject"/>
        <xsd:element maxOccurs="1" minOccurs="0" ref="dc:description"/>
        <xsd:element name="keywords" maxOccurs="1" minOccurs="0" type="xsd:string"/>
        <xsd:element maxOccurs="1" minOccurs="0" ref="dc:language"/>
        <xsd:element name="category" maxOccurs="1" minOccurs="0" type="xsd:string"/>
        <xsd:element name="version" maxOccurs="1" minOccurs="0" type="xsd:string"/>
        <xsd:element name="revision" maxOccurs="1" minOccurs="0" type="xsd:string">
          <xsd:annotation>
            <xsd:documentation>
                        This value indicates the number of saves or revisions. The application is responsible for updating this value after each revision.
                    </xsd:documentation>
          </xsd:annotation>
        </xsd:element>
        <xsd:element name="lastModifiedBy" maxOccurs="1" minOccurs="0" type="xsd:string"/>
        <xsd:element maxOccurs="1" minOccurs="0" ref="dcterms:modified"/>
        <xsd:element name="contentStatus" maxOccurs="1" minOccurs="0" type="xsd:string"/>
      </xsd:all>
    </xsd:complexType>
  </xsd:schema>
  <xs:schema xmlns:xs="http://www.w3.org/2001/XMLSchema" xmlns:pc="http://schemas.microsoft.com/office/infopath/2007/PartnerControls" attributeFormDefault="unqualified" targetNamespace="http://schemas.microsoft.com/office/infopath/2007/PartnerControls" elementFormDefault="qualified">
    <xs:element name="Person">
      <xs:complexType>
        <xs:sequence>
          <xs:element minOccurs="0" ref="pc:DisplayName"/>
          <xs:element minOccurs="0" ref="pc:AccountId"/>
          <xs:element minOccurs="0" ref="pc:AccountType"/>
        </xs:sequence>
      </xs:complexType>
    </xs:element>
    <xs:element name="DisplayName" type="xs:string"/>
    <xs:element name="AccountId" type="xs:string"/>
    <xs:element name="AccountType" type="xs:string"/>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1F98F7-6576-47F1-AD63-56E26C339747}">
  <ds:schemaRefs/>
</ds:datastoreItem>
</file>

<file path=customXml/itemProps2.xml><?xml version="1.0" encoding="utf-8"?>
<ds:datastoreItem xmlns:ds="http://schemas.openxmlformats.org/officeDocument/2006/customXml" ds:itemID="{25B4CAA5-BE7A-46AB-97ED-63B24C46A3A8}">
  <ds:schemaRefs/>
</ds:datastoreItem>
</file>

<file path=customXml/itemProps3.xml><?xml version="1.0" encoding="utf-8"?>
<ds:datastoreItem xmlns:ds="http://schemas.openxmlformats.org/officeDocument/2006/customXml" ds:itemID="{5783CE7D-BFC6-4030-A335-E7F88DB66414}">
  <ds:schemaRefs/>
</ds:datastoreItem>
</file>

<file path=docProps/app.xml><?xml version="1.0" encoding="utf-8"?>
<Properties xmlns="http://schemas.openxmlformats.org/officeDocument/2006/extended-properties" xmlns:vt="http://schemas.openxmlformats.org/officeDocument/2006/docPropsVTypes">
  <TotalTime>0</TotalTime>
  <Words>3256</Words>
  <Application>Microsoft Office PowerPoint</Application>
  <PresentationFormat>Widescreen</PresentationFormat>
  <Paragraphs>78</Paragraphs>
  <Slides>11</Slides>
  <Notes>4</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Slice</vt:lpstr>
      <vt:lpstr>Stroke Prediction Using SVM, Decision Tree, and KNN</vt:lpstr>
      <vt:lpstr>Business Usecase</vt:lpstr>
      <vt:lpstr>Dataset overview </vt:lpstr>
      <vt:lpstr>Model selection </vt:lpstr>
      <vt:lpstr>Decision tree: </vt:lpstr>
      <vt:lpstr>K-Nearest Neighbors (KNN): </vt:lpstr>
      <vt:lpstr>Support Vector Machine (SVM): </vt:lpstr>
      <vt:lpstr>Tools: </vt:lpstr>
      <vt:lpstr>Discussion</vt:lpstr>
      <vt:lpstr>Results:</vt:lpstr>
      <vt:lpstr>GITHUB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karinamurpani</cp:lastModifiedBy>
  <cp:revision>72</cp:revision>
  <dcterms:created xsi:type="dcterms:W3CDTF">2026-05-25T09:02:38Z</dcterms:created>
  <dcterms:modified xsi:type="dcterms:W3CDTF">2026-05-25T11:00:55Z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8064A692FFFEE6AE2E10146A6A53016A_42</vt:lpwstr>
  </property>
  <property fmtid="{D5CDD505-2E9C-101B-9397-08002B2CF9AE}" pid="4" name="KSOProductBuildVer">
    <vt:lpwstr>1033-12.1.25880.25880</vt:lpwstr>
  </property>
</Properties>
</file>